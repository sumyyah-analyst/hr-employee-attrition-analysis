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43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2694" y="6"/>
            <a:ext cx="12191695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9872"/>
            <a:ext cx="5486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 dirty="0">
                <a:solidFill>
                  <a:srgbClr val="DAF1DE"/>
                </a:solidFill>
                <a:latin typeface="Aptos"/>
              </a:rPr>
              <a:t>HR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8686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 dirty="0">
                <a:solidFill>
                  <a:srgbClr val="FAFCF9"/>
                </a:solidFill>
                <a:latin typeface="Aptos"/>
              </a:rPr>
              <a:t>ATTRITION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58813"/>
            <a:ext cx="7523213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dirty="0">
                <a:solidFill>
                  <a:schemeClr val="accent5">
                    <a:lumMod val="20000"/>
                    <a:lumOff val="80000"/>
                  </a:schemeClr>
                </a:solidFill>
                <a:latin typeface="Aptos"/>
              </a:rPr>
              <a:t>Understanding employee attrition trends, patterns and key workforce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"/>
            <a:ext cx="12191695" cy="0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924" y="6520299"/>
            <a:ext cx="2743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AF1DE"/>
                </a:solidFill>
                <a:latin typeface="Aptos"/>
              </a:rPr>
              <a:t>Portfolio Project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690" y="3543300"/>
            <a:ext cx="331470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A concise view of the workforce and attrition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21854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Total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218541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1,470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51460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435607"/>
            <a:ext cx="21854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Employees 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737360"/>
            <a:ext cx="218541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237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25880"/>
            <a:ext cx="251460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1435607"/>
            <a:ext cx="21854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Active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737360"/>
            <a:ext cx="218541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1,233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325880"/>
            <a:ext cx="251460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7112" y="1435607"/>
            <a:ext cx="21854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Attrition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737360"/>
            <a:ext cx="218541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E5C84A"/>
                </a:solidFill>
                <a:latin typeface="Aptos"/>
              </a:rPr>
              <a:t>16.12%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10972800" cy="297180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63240"/>
            <a:ext cx="5029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051F20"/>
                </a:solidFill>
                <a:latin typeface="Aptos"/>
              </a:rPr>
              <a:t>Key findings from the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2D28"/>
                </a:solidFill>
                <a:latin typeface="Aptos"/>
              </a:defRPr>
            </a:pPr>
            <a:r>
              <a:t>• Research &amp; Development has the highest number of employee exits among the three departments shown.</a:t>
            </a:r>
          </a:p>
          <a:p>
            <a:pPr>
              <a:spcAft>
                <a:spcPts val="900"/>
              </a:spcAft>
              <a:defRPr sz="1500">
                <a:solidFill>
                  <a:srgbClr val="192D28"/>
                </a:solidFill>
                <a:latin typeface="Aptos"/>
              </a:defRPr>
            </a:pPr>
            <a:r>
              <a:t>• The largest visible attrition group is the 26–35 age band.</a:t>
            </a:r>
          </a:p>
          <a:p>
            <a:pPr>
              <a:spcAft>
                <a:spcPts val="900"/>
              </a:spcAft>
              <a:defRPr sz="1500">
                <a:solidFill>
                  <a:srgbClr val="192D28"/>
                </a:solidFill>
                <a:latin typeface="Aptos"/>
              </a:defRPr>
            </a:pPr>
            <a:r>
              <a:t>• Male employees account for 150 of the 237 recorded exits; female employees account for 87.</a:t>
            </a:r>
          </a:p>
          <a:p>
            <a:pPr>
              <a:spcAft>
                <a:spcPts val="900"/>
              </a:spcAft>
              <a:defRPr sz="1500">
                <a:solidFill>
                  <a:srgbClr val="192D28"/>
                </a:solidFill>
                <a:latin typeface="Aptos"/>
              </a:defRPr>
            </a:pPr>
            <a:r>
              <a:t>• Work-Life Balance score 3 has the highest number of exits in the dashboard.</a:t>
            </a:r>
          </a:p>
          <a:p>
            <a:pPr>
              <a:spcAft>
                <a:spcPts val="900"/>
              </a:spcAft>
              <a:defRPr sz="1500">
                <a:solidFill>
                  <a:srgbClr val="192D28"/>
                </a:solidFill>
                <a:latin typeface="Aptos"/>
              </a:defRPr>
            </a:pPr>
            <a:r>
              <a:t>• OverTime, job role and income band are included as interactive dimensions for deeper investigation.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82238"/>
            <a:ext cx="5178116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235347"/>
                </a:solidFill>
                <a:latin typeface="Aptos"/>
              </a:rPr>
              <a:t>Interactive Power BI dashboard used for exploration and filtering</a:t>
            </a:r>
          </a:p>
        </p:txBody>
      </p:sp>
      <p:pic>
        <p:nvPicPr>
          <p:cNvPr id="5" name="Picture 4" descr="10001719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" y="651542"/>
            <a:ext cx="11178540" cy="6060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Attrition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Employee exits are concentrated in Research &amp; Development and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2D28"/>
                </a:solidFill>
                <a:latin typeface="Aptos"/>
              </a:rPr>
              <a:t>Research &amp;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44752"/>
            <a:ext cx="6515100" cy="411480"/>
          </a:xfrm>
          <a:prstGeom prst="round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0" y="139903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051F20"/>
                </a:solidFill>
                <a:latin typeface="Aptos"/>
              </a:rP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2D28"/>
                </a:solidFill>
                <a:latin typeface="Aptos"/>
              </a:rPr>
              <a:t>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87751"/>
            <a:ext cx="4506685" cy="411480"/>
          </a:xfrm>
          <a:prstGeom prst="round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0" y="254203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051F20"/>
                </a:solidFill>
                <a:latin typeface="Aptos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92D28"/>
                </a:solidFill>
                <a:latin typeface="Aptos"/>
              </a:rPr>
              <a:t>Human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730752"/>
            <a:ext cx="587828" cy="411480"/>
          </a:xfrm>
          <a:prstGeom prst="round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0" y="368503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051F20"/>
                </a:solidFill>
                <a:latin typeface="Apto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2040"/>
            <a:ext cx="10698480" cy="86868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1F20"/>
                </a:solidFill>
                <a:latin typeface="Aptos"/>
              </a:rPr>
              <a:t>Insight: R&amp;D records the highest number of exits, followed by Sales. HR has substantially fewer exits.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Attrition by Role &amp;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Role-level concentration helps identify where retention pressure is highest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51F20"/>
                </a:solidFill>
                <a:latin typeface="Aptos"/>
              </a:rPr>
              <a:t>Top visible job-role exits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Laboratory Technician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64208"/>
            <a:ext cx="3924886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62763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Sales Executive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31136"/>
            <a:ext cx="3608363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Research Scientist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798064"/>
            <a:ext cx="2975316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2761488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46704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Sales Representative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364992"/>
            <a:ext cx="2089052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3328416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Human Resources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931920"/>
            <a:ext cx="759655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895344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2468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92D28"/>
                </a:solidFill>
                <a:latin typeface="Aptos"/>
              </a:rPr>
              <a:t>Manufacturing Director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4498848"/>
            <a:ext cx="633046" cy="256032"/>
          </a:xfrm>
          <a:prstGeom prst="round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44622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51F20"/>
                </a:solidFill>
                <a:latin typeface="Aptos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17320"/>
            <a:ext cx="3108960" cy="338328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173736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51F20"/>
                </a:solidFill>
                <a:latin typeface="Aptos"/>
              </a:rPr>
              <a:t>Income perspective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42316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35347"/>
                </a:solidFill>
                <a:latin typeface="Aptos"/>
              </a:rPr>
              <a:t>Average Monthly Income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74320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235347"/>
                </a:solidFill>
                <a:latin typeface="Aptos"/>
              </a:rPr>
              <a:t>6.50K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1434" y="3403014"/>
            <a:ext cx="3098409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92D28"/>
                </a:solidFill>
                <a:latin typeface="Aptos"/>
              </a:rPr>
              <a:t>Income bands are available in the dashboard to compare attrition across Low, Medium and High salary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Demographic &amp; Work-Life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Attrition varies across age, gender and work-life balance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92608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25968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Average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25968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36.92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234440"/>
            <a:ext cx="292608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13631" y="1344168"/>
            <a:ext cx="25968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Male Exits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1" y="1645920"/>
            <a:ext cx="25968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150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234440"/>
            <a:ext cx="2926080" cy="1143000"/>
          </a:xfrm>
          <a:prstGeom prst="roundRect">
            <a:avLst/>
          </a:prstGeom>
          <a:solidFill>
            <a:srgbClr val="FAFCF9"/>
          </a:solidFill>
          <a:ln>
            <a:solidFill>
              <a:srgbClr val="DC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344168"/>
            <a:ext cx="25968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35347"/>
                </a:solidFill>
                <a:latin typeface="Aptos"/>
              </a:rPr>
              <a:t>Female Exits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645920"/>
            <a:ext cx="25968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235347"/>
                </a:solidFill>
                <a:latin typeface="Aptos"/>
              </a:rPr>
              <a:t>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51F20"/>
                </a:solidFill>
                <a:latin typeface="Aptos"/>
              </a:rPr>
              <a:t>Exits by age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82112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92D28"/>
                </a:solidFill>
                <a:latin typeface="Aptos"/>
              </a:rPr>
              <a:t>26–35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3200400"/>
            <a:ext cx="3535680" cy="219456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3172968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051F20"/>
                </a:solidFill>
                <a:latin typeface="Aptos"/>
              </a:rPr>
              <a:t>116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21024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92D28"/>
                </a:solidFill>
                <a:latin typeface="Aptos"/>
              </a:rPr>
              <a:t>18–25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639312"/>
            <a:ext cx="1341120" cy="219456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3611880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051F20"/>
                </a:solidFill>
                <a:latin typeface="Aptos"/>
              </a:rP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92D28"/>
                </a:solidFill>
                <a:latin typeface="Aptos"/>
              </a:rPr>
              <a:t>36–45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078223"/>
            <a:ext cx="1310640" cy="219456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4050791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051F20"/>
                </a:solidFill>
                <a:latin typeface="Aptos"/>
              </a:rPr>
              <a:t>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92D28"/>
                </a:solidFill>
                <a:latin typeface="Aptos"/>
              </a:rPr>
              <a:t>46–55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4517136"/>
            <a:ext cx="792480" cy="219456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4489704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051F20"/>
                </a:solidFill>
                <a:latin typeface="Aptos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92D28"/>
                </a:solidFill>
                <a:latin typeface="Aptos"/>
              </a:rPr>
              <a:t>56+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956048"/>
            <a:ext cx="243840" cy="219456"/>
          </a:xfrm>
          <a:prstGeom prst="rect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0" y="4928616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051F20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7432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051F20"/>
                </a:solidFill>
                <a:latin typeface="Aptos"/>
              </a:rPr>
              <a:t>Exits by work-life balance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614203"/>
            <a:ext cx="685800" cy="369276"/>
          </a:xfrm>
          <a:prstGeom prst="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4294163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51F20"/>
                </a:solidFill>
                <a:latin typeface="Aptos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07492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347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126757"/>
            <a:ext cx="685800" cy="856722"/>
          </a:xfrm>
          <a:prstGeom prst="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3806717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51F20"/>
                </a:solidFill>
                <a:latin typeface="Aptos"/>
              </a:rPr>
              <a:t>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07492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347"/>
                </a:solidFill>
                <a:latin typeface="Aptos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3107553"/>
            <a:ext cx="685800" cy="1875926"/>
          </a:xfrm>
          <a:prstGeom prst="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2787513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51F20"/>
                </a:solidFill>
                <a:latin typeface="Aptos"/>
              </a:rPr>
              <a:t>127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507492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347"/>
                </a:solidFill>
                <a:latin typeface="Apto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4584660"/>
            <a:ext cx="685800" cy="398819"/>
          </a:xfrm>
          <a:prstGeom prst="rect">
            <a:avLst/>
          </a:prstGeom>
          <a:solidFill>
            <a:srgbClr val="8E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0" y="426462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51F20"/>
                </a:solidFill>
                <a:latin typeface="Aptos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074920"/>
            <a:ext cx="685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35347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440680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92D28"/>
                </a:solidFill>
                <a:latin typeface="Aptos"/>
              </a:rPr>
              <a:t>Work-Life Balance score 3 is the largest visible exit group.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Business Questions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The dashboard was designed around practical HR decision-making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4416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Workforce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67335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How many employees are in the organization?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34416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Attrition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67335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How many employees left and what is the attrition rate?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0779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Which department records the most exits?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6888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57860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90779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Which job roles show the highest attrition counts?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1304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Demographics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4223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How does attrition vary by gender and age group?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381304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14223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How does attrition differ across income bands?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3776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04748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OverTime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37667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Is attrition concentrated among employees working overtime?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212080" cy="960120"/>
          </a:xfrm>
          <a:prstGeom prst="roundRect">
            <a:avLst/>
          </a:prstGeom>
          <a:solidFill>
            <a:srgbClr val="D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504748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35347"/>
                </a:solidFill>
                <a:latin typeface="Aptos"/>
              </a:rPr>
              <a:t>Work-life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5376672"/>
            <a:ext cx="4754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Which work-life balance group has the most exits?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51F20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5347"/>
                </a:solidFill>
                <a:latin typeface="Aptos"/>
              </a:rPr>
              <a:t>Practical actions suggested by the observed attrition patterns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5272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AFCF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161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1F20"/>
                </a:solidFill>
                <a:latin typeface="Aptos"/>
              </a:rPr>
              <a:t>Prioritize retention in R&amp;D and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96926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Review workload, manager support, career progression and role-specific turnover patterns in the highest-exit departments.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AFCF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591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1F20"/>
                </a:solidFill>
                <a:latin typeface="Aptos"/>
              </a:rPr>
              <a:t>Investigate high-exit job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24912"/>
            <a:ext cx="96926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Use role-level analysis to identify positions with unusually high exits and compare tenure, overtime and compensation.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3872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AFCF9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021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1F20"/>
                </a:solidFill>
                <a:latin typeface="Aptos"/>
              </a:rPr>
              <a:t>Review overtime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67912"/>
            <a:ext cx="96926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Assess whether overtime-heavy employees have higher attrition and consider workload balancing or scheduling interventions.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235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7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AFCF9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451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051F20"/>
                </a:solidFill>
                <a:latin typeface="Aptos"/>
              </a:rPr>
              <a:t>Strengthen career and work-life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010912"/>
            <a:ext cx="96926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92D28"/>
                </a:solidFill>
                <a:latin typeface="Aptos"/>
              </a:rPr>
              <a:t>The visible work-life balance distribution suggests a useful area for targeted retention and employee-engagement initiatives.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235347"/>
                </a:solidFill>
                <a:latin typeface="Aptos"/>
              </a:rPr>
              <a:t>HR Employee Attrition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23534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315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AFCF9"/>
                </a:solidFill>
                <a:latin typeface="Aptos"/>
              </a:rPr>
              <a:t>Methodology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8EB69B"/>
                </a:solidFill>
                <a:latin typeface="Aptos"/>
              </a:rPr>
              <a:t>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3017520"/>
          </a:xfrm>
          <a:prstGeom prst="roundRect">
            <a:avLst/>
          </a:prstGeom>
          <a:solidFill>
            <a:srgbClr val="0B2B26"/>
          </a:solidFill>
          <a:ln>
            <a:solidFill>
              <a:srgbClr val="23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5C84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AFCF9"/>
                </a:solidFill>
                <a:latin typeface="Aptos"/>
              </a:rPr>
              <a:t>Data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2043"/>
            <a:ext cx="214884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dirty="0">
                <a:solidFill>
                  <a:srgbClr val="DAF1DE"/>
                </a:solidFill>
                <a:latin typeface="Aptos"/>
              </a:rPr>
              <a:t>IBM HR Analytics Employee Attrition dataset
1,470 employees • 35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91640"/>
            <a:ext cx="2468880" cy="3017520"/>
          </a:xfrm>
          <a:prstGeom prst="roundRect">
            <a:avLst/>
          </a:prstGeom>
          <a:solidFill>
            <a:srgbClr val="0B2B26"/>
          </a:solidFill>
          <a:ln>
            <a:solidFill>
              <a:srgbClr val="23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90195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5C84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59152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AFCF9"/>
                </a:solidFill>
                <a:latin typeface="Aptos"/>
              </a:rPr>
              <a:t>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38034"/>
            <a:ext cx="2164385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DAF1DE"/>
                </a:solidFill>
                <a:latin typeface="Aptos"/>
              </a:rPr>
              <a:t>Data validation, duplicate checks,
missing-value checks and business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691640"/>
            <a:ext cx="2468880" cy="3017520"/>
          </a:xfrm>
          <a:prstGeom prst="roundRect">
            <a:avLst/>
          </a:prstGeom>
          <a:solidFill>
            <a:srgbClr val="0B2B26"/>
          </a:solidFill>
          <a:ln>
            <a:solidFill>
              <a:srgbClr val="23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0195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5C84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59152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AFCF9"/>
                </a:solidFill>
                <a:latin typeface="Aptos"/>
              </a:rP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2043"/>
            <a:ext cx="1981505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DAF1DE"/>
                </a:solidFill>
                <a:latin typeface="Aptos"/>
              </a:rPr>
              <a:t>DAX measures, interactive slicers,
KPIs and dashboard visualizations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91640"/>
            <a:ext cx="2468880" cy="3017520"/>
          </a:xfrm>
          <a:prstGeom prst="roundRect">
            <a:avLst/>
          </a:prstGeom>
          <a:solidFill>
            <a:srgbClr val="0B2B26"/>
          </a:solidFill>
          <a:ln>
            <a:solidFill>
              <a:srgbClr val="235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59" y="1901952"/>
            <a:ext cx="548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5C84A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359152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AFCF9"/>
                </a:solidFill>
                <a:latin typeface="Aptos"/>
              </a:rP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102043"/>
            <a:ext cx="2057400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DAF1DE"/>
                </a:solidFill>
                <a:latin typeface="Aptos"/>
              </a:rPr>
              <a:t>Translate patterns into practical
HR retention questions and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07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DAF1DE"/>
                </a:solidFill>
                <a:latin typeface="Aptos"/>
              </a:rPr>
              <a:t>Project outcome: a reusable HR analytics dashboard for workforce monitoring and retention-focused exploration.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AFCF9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080760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0">
                <a:solidFill>
                  <a:srgbClr val="8EB69B"/>
                </a:solidFill>
                <a:latin typeface="Aptos"/>
              </a:rPr>
              <a:t>HR Employee Attrition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582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Sumia Mukhtar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2026-08-17T12:08:48Z</dcterms:modified>
  <cp:category/>
</cp:coreProperties>
</file>